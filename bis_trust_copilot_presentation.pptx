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  <a:p>
            <a:pPr algn="ctr">
              <a:spcBef>
                <a:spcPts val="600"/>
              </a:spcBef>
              <a:defRPr sz="3800" b="1">
                <a:solidFill>
                  <a:srgbClr val="000000"/>
                </a:solidFill>
                <a:latin typeface="Times New Roman"/>
              </a:defRPr>
            </a:pPr>
            <a:r>
              <a:t>MANAK-AI / BIS TRUST COPILOT</a:t>
            </a:r>
          </a:p>
          <a:p>
            <a:pPr algn="ctr">
              <a:spcBef>
                <a:spcPts val="600"/>
              </a:spcBef>
              <a:defRPr sz="1500">
                <a:solidFill>
                  <a:srgbClr val="374151"/>
                </a:solidFill>
                <a:latin typeface="Arial"/>
              </a:defRPr>
            </a:pPr>
            <a:r>
              <a:t>AI-powered Intelligent Assistant for Indian Standards and BIS Services for Industries and Consumers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108960"/>
            <a:ext cx="493776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PROBLEM STATEMENT DETAILS</a:t>
            </a:r>
          </a:p>
          <a:p>
            <a:pPr>
              <a:spcBef>
                <a:spcPts val="600"/>
              </a:spcBef>
              <a:defRPr sz="1100" b="1">
                <a:solidFill>
                  <a:srgbClr val="000000"/>
                </a:solidFill>
                <a:latin typeface="Arial"/>
              </a:defRPr>
            </a:pPr>
            <a:r>
              <a:t>•  Problem Statement ID: </a:t>
            </a:r>
            <a:r>
              <a:rPr b="0">
                <a:solidFill>
                  <a:srgbClr val="374151"/>
                </a:solidFill>
              </a:rPr>
              <a:t>SIH26107</a:t>
            </a:r>
          </a:p>
          <a:p>
            <a:pPr>
              <a:spcBef>
                <a:spcPts val="600"/>
              </a:spcBef>
              <a:defRPr sz="1100" b="1">
                <a:solidFill>
                  <a:srgbClr val="000000"/>
                </a:solidFill>
                <a:latin typeface="Arial"/>
              </a:defRPr>
            </a:pPr>
            <a:r>
              <a:t>•  Ministry / Dept: </a:t>
            </a:r>
            <a:r>
              <a:rPr b="0">
                <a:solidFill>
                  <a:srgbClr val="374151"/>
                </a:solidFill>
              </a:rPr>
              <a:t>Department of Consumer Affairs (DoCA) / BIS</a:t>
            </a:r>
          </a:p>
          <a:p>
            <a:pPr>
              <a:spcBef>
                <a:spcPts val="600"/>
              </a:spcBef>
              <a:defRPr sz="1100" b="1">
                <a:solidFill>
                  <a:srgbClr val="000000"/>
                </a:solidFill>
                <a:latin typeface="Arial"/>
              </a:defRPr>
            </a:pPr>
            <a:r>
              <a:t>•  Theme: </a:t>
            </a:r>
            <a:r>
              <a:rPr b="0">
                <a:solidFill>
                  <a:srgbClr val="374151"/>
                </a:solidFill>
              </a:rPr>
              <a:t>Smart Automation / Legal Tech &amp; Consumer Safety</a:t>
            </a:r>
          </a:p>
          <a:p>
            <a:pPr>
              <a:spcBef>
                <a:spcPts val="600"/>
              </a:spcBef>
              <a:defRPr sz="1100" b="1">
                <a:solidFill>
                  <a:srgbClr val="000000"/>
                </a:solidFill>
                <a:latin typeface="Arial"/>
              </a:defRPr>
            </a:pPr>
            <a:r>
              <a:t>•  Category: </a:t>
            </a:r>
            <a:r>
              <a:rPr b="0">
                <a:solidFill>
                  <a:srgbClr val="374151"/>
                </a:solidFill>
              </a:rPr>
              <a:t>Software</a:t>
            </a:r>
          </a:p>
          <a:p>
            <a:pPr>
              <a:spcBef>
                <a:spcPts val="600"/>
              </a:spcBef>
              <a:defRPr sz="1100" b="1">
                <a:solidFill>
                  <a:srgbClr val="000000"/>
                </a:solidFill>
                <a:latin typeface="Arial"/>
              </a:defRPr>
            </a:pPr>
            <a:r>
              <a:t>•  Core Goal: </a:t>
            </a:r>
            <a:r>
              <a:rPr b="0">
                <a:solidFill>
                  <a:srgbClr val="374151"/>
                </a:solidFill>
              </a:rPr>
              <a:t>Instant, verified Indian Standards navigation &amp;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108960"/>
            <a:ext cx="502920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TEAM &amp; ARCHITECTURE SUMMARY</a:t>
            </a:r>
          </a:p>
          <a:p>
            <a:pPr>
              <a:spcBef>
                <a:spcPts val="600"/>
              </a:spcBef>
              <a:defRPr sz="1100" b="1">
                <a:solidFill>
                  <a:srgbClr val="000000"/>
                </a:solidFill>
                <a:latin typeface="Arial"/>
              </a:defRPr>
            </a:pPr>
            <a:r>
              <a:t>•  Team Name / ID: </a:t>
            </a:r>
            <a:r>
              <a:rPr b="0">
                <a:solidFill>
                  <a:srgbClr val="374151"/>
                </a:solidFill>
              </a:rPr>
              <a:t>[Insert Registered Team Name &amp; ID]</a:t>
            </a:r>
          </a:p>
          <a:p>
            <a:pPr>
              <a:spcBef>
                <a:spcPts val="600"/>
              </a:spcBef>
              <a:defRPr sz="1100" b="1">
                <a:solidFill>
                  <a:srgbClr val="000000"/>
                </a:solidFill>
                <a:latin typeface="Arial"/>
              </a:defRPr>
            </a:pPr>
            <a:r>
              <a:t>•  Knowledge Coverage: </a:t>
            </a:r>
            <a:r>
              <a:rPr b="0">
                <a:solidFill>
                  <a:srgbClr val="374151"/>
                </a:solidFill>
              </a:rPr>
              <a:t>23,401 Catalogue Standards + 42 Deep Full-Text Standards</a:t>
            </a:r>
          </a:p>
          <a:p>
            <a:pPr>
              <a:spcBef>
                <a:spcPts val="600"/>
              </a:spcBef>
              <a:defRPr sz="1100" b="1">
                <a:solidFill>
                  <a:srgbClr val="000000"/>
                </a:solidFill>
                <a:latin typeface="Arial"/>
              </a:defRPr>
            </a:pPr>
            <a:r>
              <a:t>•  Core Search: </a:t>
            </a:r>
            <a:r>
              <a:rPr b="0">
                <a:solidFill>
                  <a:srgbClr val="374151"/>
                </a:solidFill>
              </a:rPr>
              <a:t>Hybrid Retrieval (Okapi BM25 + 384-D BGE Embeddings)</a:t>
            </a:r>
          </a:p>
          <a:p>
            <a:pPr>
              <a:spcBef>
                <a:spcPts val="600"/>
              </a:spcBef>
              <a:defRPr sz="1100" b="1">
                <a:solidFill>
                  <a:srgbClr val="000000"/>
                </a:solidFill>
                <a:latin typeface="Arial"/>
              </a:defRPr>
            </a:pPr>
            <a:r>
              <a:t>•  Reasoning: </a:t>
            </a:r>
            <a:r>
              <a:rPr b="0">
                <a:solidFill>
                  <a:srgbClr val="374151"/>
                </a:solidFill>
              </a:rPr>
              <a:t>10,733-Node Knowledge Graph (Multi-Hop Resolution)</a:t>
            </a:r>
          </a:p>
          <a:p>
            <a:pPr>
              <a:spcBef>
                <a:spcPts val="600"/>
              </a:spcBef>
              <a:defRPr sz="1100" b="1">
                <a:solidFill>
                  <a:srgbClr val="000000"/>
                </a:solidFill>
                <a:latin typeface="Arial"/>
              </a:defRPr>
            </a:pPr>
            <a:r>
              <a:t>•  Truth Engine: </a:t>
            </a:r>
            <a:r>
              <a:rPr b="0">
                <a:solidFill>
                  <a:srgbClr val="374151"/>
                </a:solidFill>
              </a:rPr>
              <a:t>Live Web Verification (TIER A Official Gazette First)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PROBLEM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82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u="sng">
                <a:solidFill>
                  <a:srgbClr val="000000"/>
                </a:solidFill>
                <a:latin typeface="Times New Roman"/>
              </a:defRPr>
            </a:pPr>
            <a:r>
              <a:t>Every manufactured product and consumer good in India is subject to mandatory quality standards and statutory BIS compliance.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474720" cy="429768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WHAT MUST BE CHECKED?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1.  Applicable Indian Standard (IS Code)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2.  Quality Control Order (QCO) Status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3.  Mandatory vs Voluntary Certification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4.  Exact Technical Clause &amp; Equations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5.  Chemical &amp; Mechanical Limits / Tolerances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6.  Scheme of Testing &amp; Inspection (STI)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7.  In-House Laboratory Equipment Setup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8.  BIS Certification Scheme (I, II, IV, X)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9.  7-Digit CM/L License Authenticity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10. 6-Digit Gold HUID &amp; Hallmarking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011680"/>
            <a:ext cx="3474720" cy="3749039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WHY IS IT HARD?</a:t>
            </a:r>
          </a:p>
          <a:p>
            <a:pPr>
              <a:spcBef>
                <a:spcPts val="500"/>
              </a:spcBef>
              <a:defRPr sz="1050">
                <a:solidFill>
                  <a:srgbClr val="374151"/>
                </a:solidFill>
                <a:latin typeface="Arial"/>
              </a:defRPr>
            </a:pPr>
            <a:r>
              <a:t>•  23,400+ Standards in dense PDFs</a:t>
            </a:r>
          </a:p>
          <a:p>
            <a:pPr>
              <a:spcBef>
                <a:spcPts val="500"/>
              </a:spcBef>
              <a:defRPr sz="1050">
                <a:solidFill>
                  <a:srgbClr val="374151"/>
                </a:solidFill>
                <a:latin typeface="Arial"/>
              </a:defRPr>
            </a:pPr>
            <a:r>
              <a:t>•  Scattered across multiple portals</a:t>
            </a:r>
          </a:p>
          <a:p>
            <a:pPr>
              <a:spcBef>
                <a:spcPts val="500"/>
              </a:spcBef>
              <a:defRPr sz="1050">
                <a:solidFill>
                  <a:srgbClr val="374151"/>
                </a:solidFill>
                <a:latin typeface="Arial"/>
              </a:defRPr>
            </a:pPr>
            <a:r>
              <a:t>•  Complex technical tables &amp; tolerances</a:t>
            </a:r>
          </a:p>
          <a:p>
            <a:pPr>
              <a:spcBef>
                <a:spcPts val="500"/>
              </a:spcBef>
              <a:defRPr sz="1050">
                <a:solidFill>
                  <a:srgbClr val="374151"/>
                </a:solidFill>
                <a:latin typeface="Arial"/>
              </a:defRPr>
            </a:pPr>
            <a:r>
              <a:t>•  Frequent amendments &amp; revisions</a:t>
            </a:r>
          </a:p>
          <a:p>
            <a:pPr>
              <a:spcBef>
                <a:spcPts val="500"/>
              </a:spcBef>
              <a:defRPr sz="1050">
                <a:solidFill>
                  <a:srgbClr val="374151"/>
                </a:solidFill>
                <a:latin typeface="Arial"/>
              </a:defRPr>
            </a:pPr>
            <a:r>
              <a:t>•  Colloquial product names (e.g. Sariya, Wires)</a:t>
            </a:r>
          </a:p>
          <a:p>
            <a:pPr>
              <a:spcBef>
                <a:spcPts val="500"/>
              </a:spcBef>
              <a:defRPr sz="1050">
                <a:solidFill>
                  <a:srgbClr val="374151"/>
                </a:solidFill>
                <a:latin typeface="Arial"/>
              </a:defRPr>
            </a:pPr>
            <a:r>
              <a:t>•  LLMs hallucinate critical limits &amp; clauses</a:t>
            </a:r>
          </a:p>
          <a:p>
            <a:pPr>
              <a:spcBef>
                <a:spcPts val="500"/>
              </a:spcBef>
              <a:defRPr sz="1050">
                <a:solidFill>
                  <a:srgbClr val="374151"/>
                </a:solidFill>
                <a:latin typeface="Arial"/>
              </a:defRPr>
            </a:pPr>
            <a:r>
              <a:t>•  No single unified guidance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737360"/>
            <a:ext cx="3931920" cy="429768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THE CURRENT GAP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📦 Product Enquiry</a:t>
            </a:r>
          </a:p>
          <a:p>
            <a:pPr algn="ctr">
              <a:spcBef>
                <a:spcPts val="200"/>
              </a:spcBef>
              <a:defRPr sz="1050" b="0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🔍 Search Multiple BIS Portals</a:t>
            </a:r>
          </a:p>
          <a:p>
            <a:pPr algn="ctr">
              <a:spcBef>
                <a:spcPts val="200"/>
              </a:spcBef>
              <a:defRPr sz="1050" b="0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📄 Read 50+ Page Dense PDFs</a:t>
            </a:r>
          </a:p>
          <a:p>
            <a:pPr algn="ctr">
              <a:spcBef>
                <a:spcPts val="200"/>
              </a:spcBef>
              <a:defRPr sz="1050" b="0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⚖️ Decode Complex STI &amp; QCO Rules</a:t>
            </a:r>
          </a:p>
          <a:p>
            <a:pPr algn="ctr">
              <a:spcBef>
                <a:spcPts val="200"/>
              </a:spcBef>
              <a:defRPr sz="1050" b="0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📋 Manual Guesswork &amp; Verification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000000"/>
                </a:solidFill>
                <a:latin typeface="Arial"/>
              </a:defRPr>
            </a:pPr>
            <a:r>
              <a:t>Slow • Fragmented • Prone to Hallucination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000000"/>
                </a:solidFill>
                <a:latin typeface="Times New Roman"/>
              </a:defRPr>
            </a:pPr>
            <a:r>
              <a:t>How can Indian Standards and BIS services be queried accurately while keeping every technical finding verified against official evidence?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82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u="sng">
                <a:solidFill>
                  <a:srgbClr val="000000"/>
                </a:solidFill>
                <a:latin typeface="Times New Roman"/>
              </a:defRPr>
            </a:pPr>
            <a:r>
              <a:t>Query routes → Hybrid search retrieves → Knowledge graph links → Evidence verifies → Human decides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103120" cy="128016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CAPTURE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Text • Hindi Voice • Camera Label OCR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645920"/>
            <a:ext cx="2103120" cy="128016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NORMALIZE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Colloquial term → Canonical Entity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1645920"/>
            <a:ext cx="2103120" cy="128016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HYBRID RAG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BM25 Lexical + 384-D Dense Vectors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2103120" cy="128016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GRAPH LINK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10,733 Nodes: Standard → QCO → Lab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3200400"/>
            <a:ext cx="2103120" cy="128016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TRUTH ENGINE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TIER A Official Gazette 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3200400"/>
            <a:ext cx="2103120" cy="128016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EVIDENCE FILTER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Level 1-4 Provenance &amp; Anti-Hallucination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7040880" cy="118872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VERIFIED OUTPUT WITH STATUTORY CITATIONS</a:t>
            </a:r>
          </a:p>
          <a:p>
            <a:pPr algn="ctr">
              <a:defRPr sz="1000">
                <a:solidFill>
                  <a:srgbClr val="374151"/>
                </a:solidFill>
                <a:latin typeface="Arial"/>
              </a:defRPr>
            </a:pPr>
            <a:r>
              <a:t>Exact Standard Code • Clause Number • Page Reference • Legal Compensation Formula • Level Badges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645920"/>
            <a:ext cx="3931920" cy="429768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PROPOSED TECHNOLOGY</a:t>
            </a:r>
          </a:p>
          <a:p>
            <a:pPr>
              <a:spcBef>
                <a:spcPts val="400"/>
              </a:spcBef>
              <a:defRPr sz="1000" b="1">
                <a:solidFill>
                  <a:srgbClr val="000000"/>
                </a:solidFill>
                <a:latin typeface="Arial"/>
              </a:defRPr>
            </a:pPr>
            <a:r>
              <a:t>•  AI / LLMs: </a:t>
            </a:r>
            <a:r>
              <a:rPr b="0">
                <a:solidFill>
                  <a:srgbClr val="374151"/>
                </a:solidFill>
              </a:rPr>
              <a:t>Gemini 2.5/3 Flash • Groq Qwen</a:t>
            </a:r>
          </a:p>
          <a:p>
            <a:pPr>
              <a:spcBef>
                <a:spcPts val="400"/>
              </a:spcBef>
              <a:defRPr sz="1000" b="1">
                <a:solidFill>
                  <a:srgbClr val="000000"/>
                </a:solidFill>
                <a:latin typeface="Arial"/>
              </a:defRPr>
            </a:pPr>
            <a:r>
              <a:t>•  Embeddings: </a:t>
            </a:r>
            <a:r>
              <a:rPr b="0">
                <a:solidFill>
                  <a:srgbClr val="374151"/>
                </a:solidFill>
              </a:rPr>
              <a:t>BAAI/bge-small-en-v1.5 (384-D)</a:t>
            </a:r>
          </a:p>
          <a:p>
            <a:pPr>
              <a:spcBef>
                <a:spcPts val="400"/>
              </a:spcBef>
              <a:defRPr sz="1000" b="1">
                <a:solidFill>
                  <a:srgbClr val="000000"/>
                </a:solidFill>
                <a:latin typeface="Arial"/>
              </a:defRPr>
            </a:pPr>
            <a:r>
              <a:t>•  Search Core: </a:t>
            </a:r>
            <a:r>
              <a:rPr b="0">
                <a:solidFill>
                  <a:srgbClr val="374151"/>
                </a:solidFill>
              </a:rPr>
              <a:t>Okapi BM25 + Reciprocal Rank Fusion</a:t>
            </a:r>
          </a:p>
          <a:p>
            <a:pPr>
              <a:spcBef>
                <a:spcPts val="400"/>
              </a:spcBef>
              <a:defRPr sz="1000" b="1">
                <a:solidFill>
                  <a:srgbClr val="000000"/>
                </a:solidFill>
                <a:latin typeface="Arial"/>
              </a:defRPr>
            </a:pPr>
            <a:r>
              <a:t>•  Knowledge Graph: </a:t>
            </a:r>
            <a:r>
              <a:rPr b="0">
                <a:solidFill>
                  <a:srgbClr val="374151"/>
                </a:solidFill>
              </a:rPr>
              <a:t>Relational Graph (10,733 nodes)</a:t>
            </a:r>
          </a:p>
          <a:p>
            <a:pPr>
              <a:spcBef>
                <a:spcPts val="400"/>
              </a:spcBef>
              <a:defRPr sz="1000" b="1">
                <a:solidFill>
                  <a:srgbClr val="000000"/>
                </a:solidFill>
                <a:latin typeface="Arial"/>
              </a:defRPr>
            </a:pPr>
            <a:r>
              <a:t>•  Frontend: </a:t>
            </a:r>
            <a:r>
              <a:rPr b="0">
                <a:solidFill>
                  <a:srgbClr val="374151"/>
                </a:solidFill>
              </a:rPr>
              <a:t>Clean HTML5 / CSS / Vanilla JS</a:t>
            </a:r>
          </a:p>
          <a:p>
            <a:pPr>
              <a:spcBef>
                <a:spcPts val="400"/>
              </a:spcBef>
              <a:defRPr sz="1000" b="1">
                <a:solidFill>
                  <a:srgbClr val="000000"/>
                </a:solidFill>
                <a:latin typeface="Arial"/>
              </a:defRPr>
            </a:pPr>
            <a:r>
              <a:t>•  Multimodal: </a:t>
            </a:r>
            <a:r>
              <a:rPr b="0">
                <a:solidFill>
                  <a:srgbClr val="374151"/>
                </a:solidFill>
              </a:rPr>
              <a:t>Tesseract.js OCR • Web Speech API</a:t>
            </a:r>
          </a:p>
          <a:p>
            <a:pPr>
              <a:spcBef>
                <a:spcPts val="400"/>
              </a:spcBef>
              <a:defRPr sz="1000" b="1">
                <a:solidFill>
                  <a:srgbClr val="000000"/>
                </a:solidFill>
                <a:latin typeface="Arial"/>
              </a:defRPr>
            </a:pPr>
            <a:r>
              <a:t>•  Backend &amp; Proxy: </a:t>
            </a:r>
            <a:r>
              <a:rPr b="0">
                <a:solidFill>
                  <a:srgbClr val="374151"/>
                </a:solidFill>
              </a:rPr>
              <a:t>Secure Local Proxy / Node.js</a:t>
            </a:r>
          </a:p>
          <a:p>
            <a:pPr>
              <a:spcBef>
                <a:spcPts val="400"/>
              </a:spcBef>
              <a:defRPr sz="1000" b="1">
                <a:solidFill>
                  <a:srgbClr val="000000"/>
                </a:solidFill>
                <a:latin typeface="Arial"/>
              </a:defRPr>
            </a:pPr>
            <a:r>
              <a:t>•  Offline Client: </a:t>
            </a:r>
            <a:r>
              <a:rPr b="0">
                <a:solidFill>
                  <a:srgbClr val="374151"/>
                </a:solidFill>
              </a:rPr>
              <a:t>100% Standalone Single-File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179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AI extracts. Graph links. Rules validate. Truth engine verifies. Humans decide.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82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u="sng">
                <a:solidFill>
                  <a:srgbClr val="000000"/>
                </a:solidFill>
                <a:latin typeface="Times New Roman"/>
              </a:defRPr>
            </a:pPr>
            <a:r>
              <a:t>DESIGNED AROUND REAL-WORLD DOMAIN FAILURE MODES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SUPERSEDED STANDARDS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Challenge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Old standards quoted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(IS 4151:1993 vs 2015)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</a:p>
          <a:p>
            <a:pPr algn="ctr">
              <a:spcBef>
                <a:spcPts val="200"/>
              </a:spcBef>
              <a:defRPr sz="1200" b="1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</a:p>
          <a:p>
            <a:pPr algn="ctr">
              <a:spcBef>
                <a:spcPts val="2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MANAK RESPONSE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Graph-based version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tracking + explicit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supersession alert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UNINDEXED STANDARDS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Challenge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Catalogue metadata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exists but full text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is not indexed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</a:p>
          <a:p>
            <a:pPr algn="ctr">
              <a:spcBef>
                <a:spcPts val="200"/>
              </a:spcBef>
              <a:defRPr sz="1200" b="1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</a:p>
          <a:p>
            <a:pPr algn="ctr">
              <a:spcBef>
                <a:spcPts val="2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MANAK RESPONSE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Honest Level 3 disclaimer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Never guess clauses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Metadata only notice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FAKE IDENTIFIERS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Challenge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User asks for non-existent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IS 999999 or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Clause 999.88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</a:p>
          <a:p>
            <a:pPr algn="ctr">
              <a:spcBef>
                <a:spcPts val="200"/>
              </a:spcBef>
              <a:defRPr sz="1200" b="1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</a:p>
          <a:p>
            <a:pPr algn="ctr">
              <a:spcBef>
                <a:spcPts val="2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MANAK RESPONSE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Zero-hallucination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rejection guard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Strict verification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OFFLINE FACTORY AUDIT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Challenge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Remote factory floors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lack internet connectivity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</a:p>
          <a:p>
            <a:pPr algn="ctr">
              <a:spcBef>
                <a:spcPts val="200"/>
              </a:spcBef>
              <a:defRPr sz="1200" b="1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</a:p>
          <a:p>
            <a:pPr algn="ctr">
              <a:spcBef>
                <a:spcPts val="2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MANAK RESPONSE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Standalone single-file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HTML application</a:t>
            </a:r>
          </a:p>
          <a:p>
            <a:pPr algn="ctr"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100% offline local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PROPOSED MVP: PRODUCT LOOKUP → CLAUSE VERIFICATION → CITATION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82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u="sng">
                <a:solidFill>
                  <a:srgbClr val="000000"/>
                </a:solidFill>
                <a:latin typeface="Times New Roman"/>
              </a:defRPr>
            </a:pPr>
            <a:r>
              <a:t>ONE PLATFORM • THREE 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INSPECTOR / AUDITOR</a:t>
            </a:r>
          </a:p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FIELD VERIFICATION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Today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Manual standard checking &amp; PDF search</a:t>
            </a:r>
          </a:p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With MANAK-AI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Instant offline CM/L license status check</a:t>
            </a:r>
          </a:p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Value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Section 28/29 enforcement &amp; evidence logs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645920"/>
            <a:ext cx="3474720" cy="365760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BUSINESS &amp; MSMEs</a:t>
            </a:r>
          </a:p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ACCELERATE COMPLIANCE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Before Applying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Identify exact Indian Standard &amp; QCO</a:t>
            </a:r>
          </a:p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In-House Lab Readiness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Step-by-step STI testing checklist</a:t>
            </a:r>
          </a:p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50% Subsidy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Maximize marking fee concessions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3474720" cy="365760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CONSUMER</a:t>
            </a:r>
          </a:p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VERIFY &amp; PROTECT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Product Check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Verify 6-digit Gold HUID &amp; 7-digit ISI mark</a:t>
            </a:r>
          </a:p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Fraud Detection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Flag expired or cloned licenses instantly</a:t>
            </a:r>
          </a:p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00000"/>
                </a:solidFill>
                <a:latin typeface="Arial"/>
              </a:defRPr>
            </a:pPr>
            <a:r>
              <a:t>3X Compensation</a:t>
            </a:r>
          </a:p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Calculate under-caratage refund rights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394960"/>
            <a:ext cx="5760720" cy="73152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MANAK-AI / BIS TRUST COPILOT</a:t>
            </a:r>
          </a:p>
          <a:p>
            <a:pPr algn="ctr">
              <a:defRPr sz="950" b="1">
                <a:solidFill>
                  <a:srgbClr val="1E3A8A"/>
                </a:solidFill>
                <a:latin typeface="Arial"/>
              </a:defRPr>
            </a:pPr>
            <a:r>
              <a:t>UNIFIED DOMAIN KNOWLEDGE &amp; EVIDENCE SCREENING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Times New Roman"/>
              </a:defRPr>
            </a:pPr>
            <a:r>
              <a:t>Assist human judgment — don't replace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82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92608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LEGAL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371600"/>
            <a:ext cx="75895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• Bureau of Indian Standards Act, 2016 (Act No. 11 of 2016)</a:t>
            </a:r>
          </a:p>
          <a:p>
            <a:pPr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• BIS (Conformity Assessment) Regulations, 2018 &amp; Hallmarking Regulations, 2018</a:t>
            </a:r>
          </a:p>
          <a:p>
            <a:pPr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• Source: Department of Consumer Affairs, Government of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292608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STATUTORY QCOs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286000"/>
            <a:ext cx="75895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• Mandatory Quality Control Orders (MoRTH, Ministry of Steel, DPIIT, MeitY, FSSAI)</a:t>
            </a:r>
          </a:p>
          <a:p>
            <a:pPr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• Official Gazette of India Notifications (S.O. 4252(E), S.O. 1786(E), S.O. 2082(E))</a:t>
            </a:r>
          </a:p>
          <a:p>
            <a:pPr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• Source: e-Gazette Portal, Government of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292608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RETRIEVAL RESEARCH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200400"/>
            <a:ext cx="75895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• BGE: State-of-the-Art Dense Retrieval (Xiao et al., 2023)</a:t>
            </a:r>
          </a:p>
          <a:p>
            <a:pPr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• Okapi BM25 Non-Linear Term Weighting (Robertson et al., 1994)</a:t>
            </a:r>
          </a:p>
          <a:p>
            <a:pPr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• Reciprocal Rank Fusion for Hybrid Search (Cormack et al., 2009)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292608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CONSUMER GUIDELINES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4114800"/>
            <a:ext cx="75895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• Consumer Protection Act, 2019 &amp; Dec 2021 Pecuniary Rules</a:t>
            </a:r>
          </a:p>
          <a:p>
            <a:pPr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• National Consumer Helpline (NCH 1915) &amp; e-Daakhil Portal</a:t>
            </a:r>
          </a:p>
          <a:p>
            <a:pPr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• Department of Consumer Affairs, Government of India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292608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5029200"/>
            <a:ext cx="75895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>
                <a:solidFill>
                  <a:srgbClr val="374151"/>
                </a:solidFill>
                <a:latin typeface="Arial"/>
              </a:defRPr>
            </a:pPr>
            <a:r>
              <a:t>• SIH26107 — Official Problem Statement Smart India Hackathon 2026</a:t>
            </a:r>
          </a:p>
          <a:p>
            <a:pPr>
              <a:spcBef>
                <a:spcPts val="2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• Organization: Bureau of Indian Standards (BIS) / Ministry of Consumer Affairs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REGULATION → RESEARCH → DESIGN →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